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83" r:id="rId7"/>
    <p:sldId id="263" r:id="rId8"/>
    <p:sldId id="264" r:id="rId9"/>
    <p:sldId id="265" r:id="rId10"/>
    <p:sldId id="286" r:id="rId11"/>
    <p:sldId id="266" r:id="rId12"/>
    <p:sldId id="267" r:id="rId13"/>
    <p:sldId id="284" r:id="rId14"/>
    <p:sldId id="269" r:id="rId15"/>
    <p:sldId id="270" r:id="rId16"/>
    <p:sldId id="271" r:id="rId17"/>
    <p:sldId id="272" r:id="rId18"/>
    <p:sldId id="273" r:id="rId19"/>
    <p:sldId id="274" r:id="rId20"/>
    <p:sldId id="285" r:id="rId21"/>
    <p:sldId id="278" r:id="rId22"/>
    <p:sldId id="279" r:id="rId23"/>
    <p:sldId id="280" r:id="rId24"/>
    <p:sldId id="276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4FF"/>
    <a:srgbClr val="222222"/>
    <a:srgbClr val="0D6E75"/>
    <a:srgbClr val="EAF7F7"/>
    <a:srgbClr val="081226"/>
    <a:srgbClr val="0A1730"/>
    <a:srgbClr val="FF9A4D"/>
    <a:srgbClr val="15848B"/>
    <a:srgbClr val="DBCC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811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D6E7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MÔN LẬP TRÌNH MẠNG  ·  NETWORK PROGRAMMING</a:t>
            </a:r>
            <a:endParaRPr lang="en-US" sz="1600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FLUX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95400" y="23495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9A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MULTI FILE DOWNLOADER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70760" y="29438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Hệ thống Client – Server GUI tải nhiều file song song qua TCP Socket, bảo mật TLS/SSL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776980"/>
            <a:ext cx="786384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5520" y="39954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 5  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GVHD: Mai Ngọc Châu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Viện Công nghệ Thông tin và Điện, Điện tử — Đại học GTVT TP.HCM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5405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Trần Anh Khôi · Võ Văn Khương Thịnh · Nguyễn Phạm Y Huỳnh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Phan Thị Thu Hương · Nguyễn Hồ Hưng Thịnh · Thạch Thị Trâm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285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ĐẶT VẤN ĐỀ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3285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một trình tải file đa luồng?</a:t>
            </a:r>
            <a:endParaRPr lang="en-US" sz="3200" dirty="0">
              <a:solidFill>
                <a:srgbClr val="222222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9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5FA31AE6-7D37-680C-DFAC-AF74F184F4E5}"/>
              </a:ext>
            </a:extLst>
          </p:cNvPr>
          <p:cNvSpPr/>
          <p:nvPr/>
        </p:nvSpPr>
        <p:spPr>
          <a:xfrm>
            <a:off x="623285" y="2423160"/>
            <a:ext cx="3429000" cy="3566160"/>
          </a:xfrm>
          <a:prstGeom prst="roundRect">
            <a:avLst>
              <a:gd name="adj" fmla="val 32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28E765AF-1919-B103-1F7A-ED5CEE185A03}"/>
              </a:ext>
            </a:extLst>
          </p:cNvPr>
          <p:cNvSpPr/>
          <p:nvPr/>
        </p:nvSpPr>
        <p:spPr>
          <a:xfrm>
            <a:off x="943325" y="2743200"/>
            <a:ext cx="777240" cy="77724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38391ABD-E169-9194-5D68-DFB37C6A8B6D}"/>
              </a:ext>
            </a:extLst>
          </p:cNvPr>
          <p:cNvSpPr/>
          <p:nvPr/>
        </p:nvSpPr>
        <p:spPr>
          <a:xfrm>
            <a:off x="4372325" y="2423160"/>
            <a:ext cx="3429000" cy="3566160"/>
          </a:xfrm>
          <a:prstGeom prst="roundRect">
            <a:avLst>
              <a:gd name="adj" fmla="val 32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28E9EC62-FA43-E78D-D360-64D854054544}"/>
              </a:ext>
            </a:extLst>
          </p:cNvPr>
          <p:cNvSpPr/>
          <p:nvPr/>
        </p:nvSpPr>
        <p:spPr>
          <a:xfrm>
            <a:off x="4692365" y="2743200"/>
            <a:ext cx="777240" cy="77724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291619E0-9B7B-5991-9DD4-6C8E2D793A31}"/>
              </a:ext>
            </a:extLst>
          </p:cNvPr>
          <p:cNvSpPr/>
          <p:nvPr/>
        </p:nvSpPr>
        <p:spPr>
          <a:xfrm>
            <a:off x="8121365" y="2423160"/>
            <a:ext cx="3429000" cy="3566160"/>
          </a:xfrm>
          <a:prstGeom prst="roundRect">
            <a:avLst>
              <a:gd name="adj" fmla="val 32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B2F20C03-69BC-D409-5E2F-D22FD5F510FE}"/>
              </a:ext>
            </a:extLst>
          </p:cNvPr>
          <p:cNvSpPr/>
          <p:nvPr/>
        </p:nvSpPr>
        <p:spPr>
          <a:xfrm>
            <a:off x="8441405" y="2743200"/>
            <a:ext cx="777240" cy="77724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3AF8ABA0-245B-0C73-1D4E-13D1566BD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205" y="2926080"/>
            <a:ext cx="411480" cy="411480"/>
          </a:xfrm>
          <a:prstGeom prst="rect">
            <a:avLst/>
          </a:prstGeom>
        </p:spPr>
      </p:pic>
      <p:sp>
        <p:nvSpPr>
          <p:cNvPr id="36" name="Text 8">
            <a:extLst>
              <a:ext uri="{FF2B5EF4-FFF2-40B4-BE49-F238E27FC236}">
                <a16:creationId xmlns:a16="http://schemas.microsoft.com/office/drawing/2014/main" id="{5AB07F32-7935-0CA4-AAC3-60FFCA7EBF91}"/>
              </a:ext>
            </a:extLst>
          </p:cNvPr>
          <p:cNvSpPr/>
          <p:nvPr/>
        </p:nvSpPr>
        <p:spPr>
          <a:xfrm>
            <a:off x="943325" y="3657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Nhu cầu tải nhiều file</a:t>
            </a:r>
            <a:endParaRPr lang="en-US" sz="1600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BBDF3641-D8D5-0D2C-07E2-2069347E2874}"/>
              </a:ext>
            </a:extLst>
          </p:cNvPr>
          <p:cNvSpPr/>
          <p:nvPr/>
        </p:nvSpPr>
        <p:spPr>
          <a:xfrm>
            <a:off x="943325" y="42976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Chia sẻ tài nguyên qua mạng nội bộ/Internet ngày càng phổ biến, người dùng cần tải nhiều file cùng lúc một cách chủ động.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4FADFDF3-CC6A-F9BB-305C-3D48C84EF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245" y="2926080"/>
            <a:ext cx="411480" cy="411480"/>
          </a:xfrm>
          <a:prstGeom prst="rect">
            <a:avLst/>
          </a:prstGeom>
        </p:spPr>
      </p:pic>
      <p:sp>
        <p:nvSpPr>
          <p:cNvPr id="42" name="Text 10">
            <a:extLst>
              <a:ext uri="{FF2B5EF4-FFF2-40B4-BE49-F238E27FC236}">
                <a16:creationId xmlns:a16="http://schemas.microsoft.com/office/drawing/2014/main" id="{28B5B73E-37CA-F7D2-39F0-C4BB1271E7D8}"/>
              </a:ext>
            </a:extLst>
          </p:cNvPr>
          <p:cNvSpPr/>
          <p:nvPr/>
        </p:nvSpPr>
        <p:spPr>
          <a:xfrm>
            <a:off x="4692365" y="3657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Yêu cầu về tốc độ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4C53AF99-8878-1148-61B5-6A069A73B1AF}"/>
              </a:ext>
            </a:extLst>
          </p:cNvPr>
          <p:cNvSpPr/>
          <p:nvPr/>
        </p:nvSpPr>
        <p:spPr>
          <a:xfrm>
            <a:off x="4692365" y="42976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Tải tuần tự từng file, từng luồng gây lãng phí băng thông với các file dung lượng lớn — cần cơ chế song song.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Image 2" descr="preencoded.png">
            <a:extLst>
              <a:ext uri="{FF2B5EF4-FFF2-40B4-BE49-F238E27FC236}">
                <a16:creationId xmlns:a16="http://schemas.microsoft.com/office/drawing/2014/main" id="{1A9574D2-39FB-3747-4F4A-D030496A9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285" y="2926080"/>
            <a:ext cx="411480" cy="411480"/>
          </a:xfrm>
          <a:prstGeom prst="rect">
            <a:avLst/>
          </a:prstGeom>
        </p:spPr>
      </p:pic>
      <p:sp>
        <p:nvSpPr>
          <p:cNvPr id="48" name="Text 12">
            <a:extLst>
              <a:ext uri="{FF2B5EF4-FFF2-40B4-BE49-F238E27FC236}">
                <a16:creationId xmlns:a16="http://schemas.microsoft.com/office/drawing/2014/main" id="{BA504AB8-F216-1A7E-B869-ED2EEC0D95FE}"/>
              </a:ext>
            </a:extLst>
          </p:cNvPr>
          <p:cNvSpPr/>
          <p:nvPr/>
        </p:nvSpPr>
        <p:spPr>
          <a:xfrm>
            <a:off x="8441405" y="3657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Kiến thức Socket &amp; TLS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E0C51464-1239-848E-6F14-D9551A2FEB30}"/>
              </a:ext>
            </a:extLst>
          </p:cNvPr>
          <p:cNvSpPr/>
          <p:nvPr/>
        </p:nvSpPr>
        <p:spPr>
          <a:xfrm>
            <a:off x="8441405" y="42976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Cần nắm vững giao tiếp TCP Socket, thiết kế giao thức ứng dụng và bảo mật kênh truyền bằng SSL/TLS.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60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DỰ ÁN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14802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Xây dựng hệ thống hoàn chỉnh qua TCP/TLS, cổng 5000</a:t>
            </a:r>
            <a:endParaRPr lang="en-US" sz="3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9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7B47900A-6FE3-4BA2-FC42-C976466C26C6}"/>
              </a:ext>
            </a:extLst>
          </p:cNvPr>
          <p:cNvSpPr/>
          <p:nvPr/>
        </p:nvSpPr>
        <p:spPr>
          <a:xfrm>
            <a:off x="548640" y="2385837"/>
            <a:ext cx="2542032" cy="3520440"/>
          </a:xfrm>
          <a:prstGeom prst="roundRect">
            <a:avLst>
              <a:gd name="adj" fmla="val 431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B62C9842-5453-BA29-921D-4BB95ED0A12E}"/>
              </a:ext>
            </a:extLst>
          </p:cNvPr>
          <p:cNvSpPr/>
          <p:nvPr/>
        </p:nvSpPr>
        <p:spPr>
          <a:xfrm>
            <a:off x="804672" y="2587005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A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</a:t>
            </a:r>
            <a:endParaRPr lang="en-US" sz="28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8F524D9-A3D5-F809-201F-27E2614139D4}"/>
              </a:ext>
            </a:extLst>
          </p:cNvPr>
          <p:cNvSpPr/>
          <p:nvPr/>
        </p:nvSpPr>
        <p:spPr>
          <a:xfrm>
            <a:off x="804672" y="3345957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Client – Server TCP/TLS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36010E5-C5D0-6078-ECC5-7A4BE8D9C211}"/>
              </a:ext>
            </a:extLst>
          </p:cNvPr>
          <p:cNvSpPr/>
          <p:nvPr/>
        </p:nvSpPr>
        <p:spPr>
          <a:xfrm>
            <a:off x="804672" y="4214637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Giao thức tự thiết kế trên TCP Socket, mã hoá toàn bộ kênh truyền bằng SSL/TLS.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0C2A1949-2FF0-D3B0-9B62-827211B13E7F}"/>
              </a:ext>
            </a:extLst>
          </p:cNvPr>
          <p:cNvSpPr/>
          <p:nvPr/>
        </p:nvSpPr>
        <p:spPr>
          <a:xfrm>
            <a:off x="3346704" y="2385837"/>
            <a:ext cx="2542032" cy="3520440"/>
          </a:xfrm>
          <a:prstGeom prst="roundRect">
            <a:avLst>
              <a:gd name="adj" fmla="val 431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AAA505D5-EEB2-E46E-154C-1F6C3FA80ED7}"/>
              </a:ext>
            </a:extLst>
          </p:cNvPr>
          <p:cNvSpPr/>
          <p:nvPr/>
        </p:nvSpPr>
        <p:spPr>
          <a:xfrm>
            <a:off x="3602736" y="2587005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A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</a:t>
            </a:r>
            <a:endParaRPr lang="en-US" sz="28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695C0CC-B3AD-CF6E-051D-E19499BA2C4D}"/>
              </a:ext>
            </a:extLst>
          </p:cNvPr>
          <p:cNvSpPr/>
          <p:nvPr/>
        </p:nvSpPr>
        <p:spPr>
          <a:xfrm>
            <a:off x="3602736" y="3345957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GUI trực quan, đa luồng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1A6CD38A-1CD1-F394-3A03-8F33DAB3FEF6}"/>
              </a:ext>
            </a:extLst>
          </p:cNvPr>
          <p:cNvSpPr/>
          <p:nvPr/>
        </p:nvSpPr>
        <p:spPr>
          <a:xfrm>
            <a:off x="3602736" y="4214637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Giao diện PySide6 không bao giờ bị đơ nhờ toàn bộ tác vụ mạng chạy trên QThread riêng.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5C45AB88-44D0-8D3B-0E6C-50F9006F792B}"/>
              </a:ext>
            </a:extLst>
          </p:cNvPr>
          <p:cNvSpPr/>
          <p:nvPr/>
        </p:nvSpPr>
        <p:spPr>
          <a:xfrm>
            <a:off x="6144768" y="2385837"/>
            <a:ext cx="2542032" cy="3520440"/>
          </a:xfrm>
          <a:prstGeom prst="roundRect">
            <a:avLst>
              <a:gd name="adj" fmla="val 431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6A5E8570-54F1-F9F6-4127-1C2FFF1B9977}"/>
              </a:ext>
            </a:extLst>
          </p:cNvPr>
          <p:cNvSpPr/>
          <p:nvPr/>
        </p:nvSpPr>
        <p:spPr>
          <a:xfrm>
            <a:off x="6400800" y="2587005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A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03</a:t>
            </a:r>
            <a:endParaRPr lang="en-US" sz="28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0D9508CC-66C7-3981-FD0A-D7F3122410B1}"/>
              </a:ext>
            </a:extLst>
          </p:cNvPr>
          <p:cNvSpPr/>
          <p:nvPr/>
        </p:nvSpPr>
        <p:spPr>
          <a:xfrm>
            <a:off x="6400800" y="3345957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Tải đa đoạn song song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4AEB71EB-9BAB-7EA0-174C-32AC4188A458}"/>
              </a:ext>
            </a:extLst>
          </p:cNvPr>
          <p:cNvSpPr/>
          <p:nvPr/>
        </p:nvSpPr>
        <p:spPr>
          <a:xfrm>
            <a:off x="6400800" y="4214637"/>
            <a:ext cx="20299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Chia file thành nhiều đoạn byte (range), tải song song tối đa 6 luồng để tối ưu tốc độ.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DCE87C82-BF6D-B91A-26FD-FD85C47FB447}"/>
              </a:ext>
            </a:extLst>
          </p:cNvPr>
          <p:cNvSpPr/>
          <p:nvPr/>
        </p:nvSpPr>
        <p:spPr>
          <a:xfrm>
            <a:off x="8942832" y="2385837"/>
            <a:ext cx="2542032" cy="3520440"/>
          </a:xfrm>
          <a:prstGeom prst="roundRect">
            <a:avLst>
              <a:gd name="adj" fmla="val 431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FC05665C-3518-AD50-3909-0592F514822D}"/>
              </a:ext>
            </a:extLst>
          </p:cNvPr>
          <p:cNvSpPr/>
          <p:nvPr/>
        </p:nvSpPr>
        <p:spPr>
          <a:xfrm>
            <a:off x="9198864" y="2587005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A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</a:t>
            </a:r>
            <a:endParaRPr lang="en-US" sz="28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7EC303CA-346F-B2CF-6A1F-5A91257BBAEC}"/>
              </a:ext>
            </a:extLst>
          </p:cNvPr>
          <p:cNvSpPr/>
          <p:nvPr/>
        </p:nvSpPr>
        <p:spPr>
          <a:xfrm>
            <a:off x="9198864" y="3345957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 err="1">
                <a:solidFill>
                  <a:srgbClr val="0D6E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D6E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D6E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D6E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endParaRPr lang="en-US" sz="1600" b="1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79CFE466-5146-E1C0-4FB4-4EFD4B6F56F7}"/>
              </a:ext>
            </a:extLst>
          </p:cNvPr>
          <p:cNvSpPr/>
          <p:nvPr/>
        </p:nvSpPr>
        <p:spPr>
          <a:xfrm>
            <a:off x="9101328" y="4202507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LOGIN/REGISTER,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hash PBKDF2-SHA256,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251" y="109261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STACK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2251" y="142030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Công nghệ sử dụng</a:t>
            </a:r>
            <a:endParaRPr lang="en-US" sz="3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FLUX — Multi File Downloader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 / 25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99155AA6-403C-34CB-A9D8-5925BD61F492}"/>
              </a:ext>
            </a:extLst>
          </p:cNvPr>
          <p:cNvSpPr/>
          <p:nvPr/>
        </p:nvSpPr>
        <p:spPr>
          <a:xfrm>
            <a:off x="512251" y="2266406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6A486EE9-F5B3-B83F-C881-0AFF14393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83" y="2559014"/>
            <a:ext cx="502920" cy="5029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5" name="Text 3">
            <a:extLst>
              <a:ext uri="{FF2B5EF4-FFF2-40B4-BE49-F238E27FC236}">
                <a16:creationId xmlns:a16="http://schemas.microsoft.com/office/drawing/2014/main" id="{E40D2ECC-0154-721E-1368-D01174445959}"/>
              </a:ext>
            </a:extLst>
          </p:cNvPr>
          <p:cNvSpPr/>
          <p:nvPr/>
        </p:nvSpPr>
        <p:spPr>
          <a:xfrm>
            <a:off x="1426651" y="2467574"/>
            <a:ext cx="242316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Python 3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AF4EC566-8757-4DC3-EDE7-2C287C0F0CED}"/>
              </a:ext>
            </a:extLst>
          </p:cNvPr>
          <p:cNvSpPr/>
          <p:nvPr/>
        </p:nvSpPr>
        <p:spPr>
          <a:xfrm>
            <a:off x="1426651" y="2833334"/>
            <a:ext cx="242316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Ngôn ngữ chính cho Server, Client, giao thức và kiểm thử.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5B0AD287-6316-FFB3-3236-D817A4185F16}"/>
              </a:ext>
            </a:extLst>
          </p:cNvPr>
          <p:cNvSpPr/>
          <p:nvPr/>
        </p:nvSpPr>
        <p:spPr>
          <a:xfrm>
            <a:off x="4261291" y="2266406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5182D1D0-4AA0-BEE2-501A-08CD4038E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323" y="2559014"/>
            <a:ext cx="502920" cy="5029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3" name="Text 6">
            <a:extLst>
              <a:ext uri="{FF2B5EF4-FFF2-40B4-BE49-F238E27FC236}">
                <a16:creationId xmlns:a16="http://schemas.microsoft.com/office/drawing/2014/main" id="{41398575-EBC3-801E-F299-6F508A760162}"/>
              </a:ext>
            </a:extLst>
          </p:cNvPr>
          <p:cNvSpPr/>
          <p:nvPr/>
        </p:nvSpPr>
        <p:spPr>
          <a:xfrm>
            <a:off x="5175691" y="2467574"/>
            <a:ext cx="242316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PySide6 (Qt)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018BCC64-2C6D-799A-DAC1-83FE6BFCD699}"/>
              </a:ext>
            </a:extLst>
          </p:cNvPr>
          <p:cNvSpPr/>
          <p:nvPr/>
        </p:nvSpPr>
        <p:spPr>
          <a:xfrm>
            <a:off x="5175691" y="2833334"/>
            <a:ext cx="242316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Xây dựng giao diện Desktop GUI cho cả Client và Server.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BFC7FFC3-A9C3-C24D-E395-C8A1D62A14B0}"/>
              </a:ext>
            </a:extLst>
          </p:cNvPr>
          <p:cNvSpPr/>
          <p:nvPr/>
        </p:nvSpPr>
        <p:spPr>
          <a:xfrm>
            <a:off x="8010331" y="2266406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1FA7C0F5-CB69-F552-38BC-E6E7C0288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363" y="2559014"/>
            <a:ext cx="502920" cy="5029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1" name="Text 9">
            <a:extLst>
              <a:ext uri="{FF2B5EF4-FFF2-40B4-BE49-F238E27FC236}">
                <a16:creationId xmlns:a16="http://schemas.microsoft.com/office/drawing/2014/main" id="{F70D3AA1-106D-6100-DE2B-E4417F970F0E}"/>
              </a:ext>
            </a:extLst>
          </p:cNvPr>
          <p:cNvSpPr/>
          <p:nvPr/>
        </p:nvSpPr>
        <p:spPr>
          <a:xfrm>
            <a:off x="8924731" y="2467574"/>
            <a:ext cx="242316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TCP Socket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0245DB17-0A91-2D36-740C-219E02C00760}"/>
              </a:ext>
            </a:extLst>
          </p:cNvPr>
          <p:cNvSpPr/>
          <p:nvPr/>
        </p:nvSpPr>
        <p:spPr>
          <a:xfrm>
            <a:off x="8924731" y="2833334"/>
            <a:ext cx="242316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socket — kết nối TCP thô giữa Client và Server.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986F1227-06BD-F8F7-751F-661E50B30307}"/>
              </a:ext>
            </a:extLst>
          </p:cNvPr>
          <p:cNvSpPr/>
          <p:nvPr/>
        </p:nvSpPr>
        <p:spPr>
          <a:xfrm>
            <a:off x="512251" y="4214078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79C565A7-229A-A247-0C14-280ABAF107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283" y="4506686"/>
            <a:ext cx="502920" cy="5029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9" name="Text 12">
            <a:extLst>
              <a:ext uri="{FF2B5EF4-FFF2-40B4-BE49-F238E27FC236}">
                <a16:creationId xmlns:a16="http://schemas.microsoft.com/office/drawing/2014/main" id="{2B947DAB-66BE-546C-9B26-F8FD988D84BF}"/>
              </a:ext>
            </a:extLst>
          </p:cNvPr>
          <p:cNvSpPr/>
          <p:nvPr/>
        </p:nvSpPr>
        <p:spPr>
          <a:xfrm>
            <a:off x="1426651" y="4415246"/>
            <a:ext cx="242316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SSL/TLS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C6475921-1EA2-D8FD-7C37-CD53D1F79A01}"/>
              </a:ext>
            </a:extLst>
          </p:cNvPr>
          <p:cNvSpPr/>
          <p:nvPr/>
        </p:nvSpPr>
        <p:spPr>
          <a:xfrm>
            <a:off x="1426651" y="4781006"/>
            <a:ext cx="242316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Mã hoá toàn bộ kênh truyền bằng chứng chỉ tự ký.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55964047-3AE4-C1BF-3A2D-A9079CF9106E}"/>
              </a:ext>
            </a:extLst>
          </p:cNvPr>
          <p:cNvSpPr/>
          <p:nvPr/>
        </p:nvSpPr>
        <p:spPr>
          <a:xfrm>
            <a:off x="4261291" y="4214078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Image 4" descr="preencoded.png">
            <a:extLst>
              <a:ext uri="{FF2B5EF4-FFF2-40B4-BE49-F238E27FC236}">
                <a16:creationId xmlns:a16="http://schemas.microsoft.com/office/drawing/2014/main" id="{BA46A904-4B17-72E1-B987-91D9EC20B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323" y="4506686"/>
            <a:ext cx="502920" cy="5029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7" name="Text 15">
            <a:extLst>
              <a:ext uri="{FF2B5EF4-FFF2-40B4-BE49-F238E27FC236}">
                <a16:creationId xmlns:a16="http://schemas.microsoft.com/office/drawing/2014/main" id="{8E3C5663-0E95-CA3C-5E4C-DB6ADDDB51E7}"/>
              </a:ext>
            </a:extLst>
          </p:cNvPr>
          <p:cNvSpPr/>
          <p:nvPr/>
        </p:nvSpPr>
        <p:spPr>
          <a:xfrm>
            <a:off x="5175691" y="4415246"/>
            <a:ext cx="242316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Threading / QThread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7469B550-E64B-15E8-20BF-F12B5EE5F0B6}"/>
              </a:ext>
            </a:extLst>
          </p:cNvPr>
          <p:cNvSpPr/>
          <p:nvPr/>
        </p:nvSpPr>
        <p:spPr>
          <a:xfrm>
            <a:off x="5175691" y="4781006"/>
            <a:ext cx="242316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Đa luồng phía Server (thread-per-client) và phía Client (QThread).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F2A2A60D-7111-04DE-1546-629A5ADFB2E7}"/>
              </a:ext>
            </a:extLst>
          </p:cNvPr>
          <p:cNvSpPr/>
          <p:nvPr/>
        </p:nvSpPr>
        <p:spPr>
          <a:xfrm>
            <a:off x="8010331" y="4214078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Image 5" descr="preencoded.png">
            <a:extLst>
              <a:ext uri="{FF2B5EF4-FFF2-40B4-BE49-F238E27FC236}">
                <a16:creationId xmlns:a16="http://schemas.microsoft.com/office/drawing/2014/main" id="{86021167-58B0-6437-5C09-76393F387D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363" y="4506686"/>
            <a:ext cx="502920" cy="5029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5" name="Text 18">
            <a:extLst>
              <a:ext uri="{FF2B5EF4-FFF2-40B4-BE49-F238E27FC236}">
                <a16:creationId xmlns:a16="http://schemas.microsoft.com/office/drawing/2014/main" id="{4E0FAD25-2F01-3046-2954-4BF8A3E1642F}"/>
              </a:ext>
            </a:extLst>
          </p:cNvPr>
          <p:cNvSpPr/>
          <p:nvPr/>
        </p:nvSpPr>
        <p:spPr>
          <a:xfrm>
            <a:off x="8924731" y="4415246"/>
            <a:ext cx="2423160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4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cryptography</a:t>
            </a:r>
            <a:endParaRPr lang="en-US" sz="1600" dirty="0">
              <a:solidFill>
                <a:srgbClr val="158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19">
            <a:extLst>
              <a:ext uri="{FF2B5EF4-FFF2-40B4-BE49-F238E27FC236}">
                <a16:creationId xmlns:a16="http://schemas.microsoft.com/office/drawing/2014/main" id="{76E67E36-C3B8-05D9-F3B6-8C580FB965E3}"/>
              </a:ext>
            </a:extLst>
          </p:cNvPr>
          <p:cNvSpPr/>
          <p:nvPr/>
        </p:nvSpPr>
        <p:spPr>
          <a:xfrm>
            <a:off x="8924731" y="4781006"/>
            <a:ext cx="2423160" cy="1005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Sinh cặp chứng chỉ server.crt / server.key tự ký.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12675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16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310951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Kiến trúc hệ thống tổng quan</a:t>
            </a:r>
            <a:endParaRPr lang="en-US" sz="3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94559"/>
            <a:ext cx="3749040" cy="3581089"/>
          </a:xfrm>
          <a:prstGeom prst="roundRect">
            <a:avLst>
              <a:gd name="adj" fmla="val 4375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9520" y="2194560"/>
            <a:ext cx="3749040" cy="3581088"/>
          </a:xfrm>
          <a:prstGeom prst="roundRect">
            <a:avLst>
              <a:gd name="adj" fmla="val 4375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468880"/>
            <a:ext cx="502920" cy="5029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Text 4"/>
          <p:cNvSpPr/>
          <p:nvPr/>
        </p:nvSpPr>
        <p:spPr>
          <a:xfrm>
            <a:off x="1783080" y="2468880"/>
            <a:ext cx="25603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FLUX Client GUI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49640" y="2468880"/>
            <a:ext cx="25603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FLUX Server Engine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43000" y="3154680"/>
            <a:ext cx="3108960" cy="1737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FileBrowser — duyệt &amp; tìm kiếm file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DownloadManager — quản lý nhiều lượt tải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DownloadCoordinator — chia &amp; gộp chunk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ChunkDownloadThread × N — tải song song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909560" y="3154680"/>
            <a:ext cx="3108960" cy="1737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listener_thread — accept() không chặn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thread riêng / client kết nối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speed_monitor_thread — đo băng thông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TLS wrap mỗi socket khi accept()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572000" y="3657600"/>
            <a:ext cx="3017520" cy="0"/>
          </a:xfrm>
          <a:prstGeom prst="line">
            <a:avLst/>
          </a:prstGeom>
          <a:noFill/>
          <a:ln w="25400">
            <a:solidFill>
              <a:srgbClr val="FF9A4D"/>
            </a:solidFill>
            <a:prstDash val="dash"/>
          </a:ln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892040" y="3364992"/>
            <a:ext cx="2377440" cy="585216"/>
          </a:xfrm>
          <a:prstGeom prst="roundRect">
            <a:avLst>
              <a:gd name="adj" fmla="val 15625"/>
            </a:avLst>
          </a:prstGeom>
          <a:solidFill>
            <a:srgbClr val="EAF7F7"/>
          </a:solidFill>
          <a:ln w="12700">
            <a:solidFill>
              <a:srgbClr val="FF9A4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92040" y="3364992"/>
            <a:ext cx="2377440" cy="585216"/>
          </a:xfrm>
          <a:prstGeom prst="rect">
            <a:avLst/>
          </a:prstGeom>
          <a:solidFill>
            <a:srgbClr val="FF9A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TCP + TLS · port 5000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LIST / GET protocol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88967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LUỒNG HOẠT ĐỘNG</a:t>
            </a:r>
            <a:endParaRPr lang="en-US" sz="16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066116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Luồng hoạt động hệ thống</a:t>
            </a:r>
            <a:endParaRPr lang="en-US" sz="27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Client kết nối TLS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80560" y="1636776"/>
            <a:ext cx="7178040" cy="566928"/>
          </a:xfrm>
          <a:prstGeom prst="roundRect">
            <a:avLst>
              <a:gd name="adj" fmla="val 14516"/>
            </a:avLst>
          </a:prstGeom>
          <a:solidFill>
            <a:srgbClr val="0F1B2E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>
              <a:highlight>
                <a:srgbClr val="0A173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4663440" y="163677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4FF"/>
                </a:solidFill>
                <a:highlight>
                  <a:srgbClr val="0A1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context.wrap_socket(sock, server_hostname=host)</a:t>
            </a:r>
            <a:endParaRPr lang="en-US" sz="1150" dirty="0">
              <a:solidFill>
                <a:srgbClr val="D8E4FF"/>
              </a:solidFill>
              <a:highlight>
                <a:srgbClr val="0A1730"/>
              </a:highlight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457200" cy="4572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Client gửi LIST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2386584"/>
            <a:ext cx="7178040" cy="566928"/>
          </a:xfrm>
          <a:prstGeom prst="roundRect">
            <a:avLst>
              <a:gd name="adj" fmla="val 14516"/>
            </a:avLst>
          </a:prstGeom>
          <a:solidFill>
            <a:srgbClr val="0F1B2E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>
              <a:highlight>
                <a:srgbClr val="0A1730"/>
              </a:highlight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0" y="2386584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4FF"/>
                </a:solidFill>
                <a:highlight>
                  <a:srgbClr val="0A1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conn.send_line("LIST")</a:t>
            </a:r>
            <a:endParaRPr lang="en-US" sz="1150" dirty="0">
              <a:solidFill>
                <a:srgbClr val="D8E4FF"/>
              </a:solidFill>
              <a:highlight>
                <a:srgbClr val="0A1730"/>
              </a:highlight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3191256"/>
            <a:ext cx="457200" cy="4572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3172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Server trả danh sách file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80560" y="3136392"/>
            <a:ext cx="7178040" cy="566928"/>
          </a:xfrm>
          <a:prstGeom prst="roundRect">
            <a:avLst>
              <a:gd name="adj" fmla="val 14516"/>
            </a:avLst>
          </a:prstGeom>
          <a:solidFill>
            <a:srgbClr val="0F1B2E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>
              <a:highlight>
                <a:srgbClr val="0A173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63440" y="313639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4FF"/>
                </a:solidFill>
                <a:highlight>
                  <a:srgbClr val="0A1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LIST|duck.jpg:409600|test1.txt:120</a:t>
            </a:r>
            <a:endParaRPr lang="en-US" sz="1150" dirty="0">
              <a:solidFill>
                <a:srgbClr val="D8E4FF"/>
              </a:solidFill>
              <a:highlight>
                <a:srgbClr val="0A173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3941064"/>
            <a:ext cx="457200" cy="4572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39227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Client chọn file &amp; gửi GET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80560" y="3886200"/>
            <a:ext cx="7178040" cy="566928"/>
          </a:xfrm>
          <a:prstGeom prst="roundRect">
            <a:avLst>
              <a:gd name="adj" fmla="val 14516"/>
            </a:avLst>
          </a:prstGeom>
          <a:solidFill>
            <a:srgbClr val="0F1B2E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>
              <a:highlight>
                <a:srgbClr val="0A1730"/>
              </a:highlight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63440" y="388620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4FF"/>
                </a:solidFill>
                <a:highlight>
                  <a:srgbClr val="0A1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GET|duck.jpg|0|204799   (theo byte-range)</a:t>
            </a:r>
            <a:endParaRPr lang="en-US" sz="1150" dirty="0">
              <a:solidFill>
                <a:srgbClr val="D8E4FF"/>
              </a:solidFill>
              <a:highlight>
                <a:srgbClr val="0A1730"/>
              </a:highlight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4690872"/>
            <a:ext cx="457200" cy="4572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pPr algn="ctr"/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" name="Text 24"/>
          <p:cNvSpPr/>
          <p:nvPr/>
        </p:nvSpPr>
        <p:spPr>
          <a:xfrm>
            <a:off x="1143000" y="46725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Server gửi header + stream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480560" y="4636008"/>
            <a:ext cx="7178040" cy="566928"/>
          </a:xfrm>
          <a:prstGeom prst="roundRect">
            <a:avLst>
              <a:gd name="adj" fmla="val 14516"/>
            </a:avLst>
          </a:prstGeom>
          <a:solidFill>
            <a:srgbClr val="0F1B2E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>
              <a:highlight>
                <a:srgbClr val="0A1730"/>
              </a:highlight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63440" y="463600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4FF"/>
                </a:solidFill>
                <a:highlight>
                  <a:srgbClr val="0A1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FILE|duck.jpg|204800  → dữ liệu nhị phân</a:t>
            </a:r>
            <a:endParaRPr lang="en-US" sz="1150" dirty="0">
              <a:solidFill>
                <a:srgbClr val="D8E4FF"/>
              </a:solidFill>
              <a:highlight>
                <a:srgbClr val="0A1730"/>
              </a:highlight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440680"/>
            <a:ext cx="457200" cy="4572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54223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Client ghi vào offset &amp; hoàn tất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480560" y="5385816"/>
            <a:ext cx="7178040" cy="566928"/>
          </a:xfrm>
          <a:prstGeom prst="roundRect">
            <a:avLst>
              <a:gd name="adj" fmla="val 14516"/>
            </a:avLst>
          </a:prstGeom>
          <a:solidFill>
            <a:srgbClr val="0F1B2E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>
              <a:highlight>
                <a:srgbClr val="0A1730"/>
              </a:highlight>
            </a:endParaRPr>
          </a:p>
        </p:txBody>
      </p:sp>
      <p:sp>
        <p:nvSpPr>
          <p:cNvPr id="33" name="Text 31"/>
          <p:cNvSpPr/>
          <p:nvPr/>
        </p:nvSpPr>
        <p:spPr>
          <a:xfrm>
            <a:off x="4663440" y="538581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E4FF"/>
                </a:solidFill>
                <a:highlight>
                  <a:srgbClr val="0A17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f.seek(start); f.write(chunk) → Downloaded</a:t>
            </a:r>
            <a:endParaRPr lang="en-US" sz="1150" dirty="0">
              <a:solidFill>
                <a:srgbClr val="D8E4FF"/>
              </a:solidFill>
              <a:highlight>
                <a:srgbClr val="0A1730"/>
              </a:highlight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PROTOCOL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Giao thức truyền dữ liệu (LIST / GET)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163732"/>
              </p:ext>
            </p:extLst>
          </p:nvPr>
        </p:nvGraphicFramePr>
        <p:xfrm>
          <a:off x="548640" y="1874520"/>
          <a:ext cx="11064240" cy="356615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AF7F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Chiều</a:t>
                      </a:r>
                      <a:endParaRPr lang="en-US" sz="1600" dirty="0">
                        <a:solidFill>
                          <a:srgbClr val="EAF7F7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AF7F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Lệnh</a:t>
                      </a:r>
                      <a:endParaRPr lang="en-US" sz="1600" dirty="0">
                        <a:solidFill>
                          <a:srgbClr val="EAF7F7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AF7F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Cú pháp</a:t>
                      </a:r>
                      <a:endParaRPr lang="en-US" sz="1600" dirty="0">
                        <a:solidFill>
                          <a:srgbClr val="EAF7F7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AF7F7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Ý nghĩa</a:t>
                      </a:r>
                      <a:endParaRPr lang="en-US" sz="1600" dirty="0">
                        <a:solidFill>
                          <a:srgbClr val="EAF7F7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Client → Server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LIST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LIST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Yêu cầu danh sách file trên Server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Client → Server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GET (toàn bộ)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GET|filename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Yêu cầu tải toàn bộ 1 file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Client → Server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GET (byte range)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GET|filename|start|end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Tải 1 đoạn byte — nền tảng tải đa luồng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Server → Client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LIST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LIST|name1:size1|...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Trả danh sách (tên, dung lượng)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Server → Client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FILE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FILE|filename|size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Header trước khi truyền dữ liệu nhị phân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Server → Client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ERROR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ERROR|message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Báo lỗi (không tồn tại, range sai...)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FF3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40" y="5669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242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Framing: mỗi lệnh kết thúc bằng \n · CHUNK_SIZE = 4096 byte · MAX_BUFFER_SIZE = 1.000.000 byte (chống buffer overflow)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FLUX — Multi File Downloader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 / 25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4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SHARED / PROTOCOL.PY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61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Framing dữ liệu — lớp Connection</a:t>
            </a:r>
            <a:endParaRPr lang="en-US" sz="32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92240" cy="4480560"/>
          </a:xfrm>
          <a:prstGeom prst="roundRect">
            <a:avLst>
              <a:gd name="adj" fmla="val 1837"/>
            </a:avLst>
          </a:prstGeom>
          <a:solidFill>
            <a:srgbClr val="081226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6035040" cy="4114800"/>
          </a:xfrm>
          <a:prstGeom prst="rect">
            <a:avLst/>
          </a:prstGeom>
          <a:solidFill>
            <a:srgbClr val="081226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Connection: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recv_line(self):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DELIM_BYTES not in self.buffer: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chunk = self.conn.recv(BUFFER_SIZE)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chunk: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None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self.buffer += chunk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len(self.buffer) &gt; MAX_BUFFER_SIZE: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raise ValueError("Buffer overflow")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line, self.buffer = self.buffer.split(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DELIM_BYTES, 1)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line.decode("utf-8", errors="replace")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recv_bytes(self, size: int):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ghép phần buffer thừa + đọc thêm đủ 'size'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byte nhị phân — KHÔNG tách theo '\n'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0" y="1828800"/>
            <a:ext cx="4297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Text-based, line-delimited (\n)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Dễ debug, dễ mở rộng thêm lệnh mới.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recv_line() vs recv_bytes()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Header văn bản đọc theo dòng; dữ liệu nhị phân đọc theo đúng số byte size — tránh vỡ khung khi file chứa byte trùng ký tự phân cách.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Tự ghép gói tin phân mảnh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Buffer nội bộ tự động gộp các gói TCP đến trễ/phân mảnh thành đúng 1 khung dữ liệu.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20" y="9692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SECURITY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120" y="1097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Bảo mật kênh truyền — SSL/TLS</a:t>
            </a:r>
            <a:endParaRPr lang="en-US" sz="32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081226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ssl.SSLContext(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ssl.PROTOCOL_TLS_SERVER)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context.load_cert_chain(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certfile="certs/server.crt",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keyfile="certs/server.key")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conn, addr = sock.accept()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ssl_context.wrap_socket(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conn, server_side=True)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081226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ssl.SSLContext(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ssl.PROTOCOL_TLS_CLIENT)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context.load_verify_locations(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"certs/server.crt")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socket.socket(...)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raw.connect((host, port))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= context.wrap_socket(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raw, server_hostname=host)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EAF7F7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10424160" cy="118872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Toàn bộ dữ liệu trao đổi được mã hoá TLS — chống nghe lén (eavesdropping) trên mạng.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xác thực Server bằng chính server.crt làm CA tin cậy trước khi gửi bất kỳ dữ liệu nào.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chuẩn hoá filename bằng os.path.basename() để chống tấn công path traversal.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20" y="9692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AUTHENTICATION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120" y="1097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Xác thực người dùng — Login / Register</a:t>
            </a:r>
            <a:endParaRPr lang="en-US" sz="32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2194560"/>
          </a:xfrm>
          <a:prstGeom prst="roundRect">
            <a:avLst>
              <a:gd name="adj" fmla="val 3462"/>
            </a:avLst>
          </a:prstGeom>
          <a:solidFill>
            <a:srgbClr val="081226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REGISTER|username|password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LOGIN|username|password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handle_auth_command(store,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cmd, parts):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ok, msg = store.verify(u, pw)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ok: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sessions.mark_authenticated(ip)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94960" cy="2194560"/>
          </a:xfrm>
          <a:prstGeom prst="roundRect">
            <a:avLst>
              <a:gd name="adj" fmla="val 3462"/>
            </a:avLst>
          </a:prstGeom>
          <a:solidFill>
            <a:srgbClr val="081226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 = LoginDialog(host, port)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dialog.exec() == Accepted: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 FileClientGUI()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_AuthThread(QThread):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conn.send_line(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f"{cmd}|{user}|{pwd}")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conn.recv_line()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resp.split("|")[0]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11258"/>
            <a:ext cx="11064240" cy="2062694"/>
          </a:xfrm>
          <a:prstGeom prst="roundRect">
            <a:avLst>
              <a:gd name="adj" fmla="val 7273"/>
            </a:avLst>
          </a:prstGeom>
          <a:solidFill>
            <a:srgbClr val="EAF7F7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438530"/>
            <a:ext cx="10591800" cy="118872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Mật khẩu không bao giờ lưu dạng plaintext — chỉ lưu hash PBKDF2-SHA256 kèm salt ngẫu nhiên (200.000 vòng lặp) trong server/users.json.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SessionTracker ghi nhớ IP đã đăng nhập; mọi lệnh LIST/GET từ IP chưa xác thực bị từ chối bằng "Not authenticated. Please login first."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LoginDialog (PySide6, 2 tab Login/Register) chạy xác thực trên QThread riêng (_AuthThread) — cửa sổ đăng nhập không bao giờ bị đơ.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656" y="9037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/ SERVER.PY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06375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Thiết kế Server — lớp ServerEngine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4672" y="2176272"/>
            <a:ext cx="566928" cy="566928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304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ServerSocket(5000)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Lắng nghe kết nối đến, accept() có timeout 1s để dừng sạch sẽ.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55848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11880" y="2176272"/>
            <a:ext cx="566928" cy="566928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3042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 thread / client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84448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Mô hình thread-per-client — client chậm không ảnh hưởng client khác.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63056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19088" y="2176272"/>
            <a:ext cx="566928" cy="566928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3042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threading.Lock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91656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Bảo vệ trạng thái dùng chung (active_clients, download_history).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970264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226296" y="2176272"/>
            <a:ext cx="566928" cy="566928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23042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Callback / Signal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198864" y="3429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register_status_callback() đẩy số liệu realtime cho GUI, không cần polling.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7F7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Ngoài giao thức, ServerEngine còn theo dõi IP/port/hành động từng client, đo tốc độ upload theo thời gian thực và cho phép quản trị viên kick_client() để ngắt kết nối cưỡng bức.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FLUX — Multi File Downloader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25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20" y="905257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MULTI-THREADING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120" y="11612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Xử lý đa luồng phía Server</a:t>
            </a:r>
            <a:endParaRPr lang="en-US" sz="32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743200" cy="402336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9120" y="2148839"/>
            <a:ext cx="2712720" cy="42062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E0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7720" y="2468880"/>
            <a:ext cx="21640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73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Main Thread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7720" y="3145536"/>
            <a:ext cx="2255520" cy="8229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accept()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wait...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023360"/>
            <a:ext cx="640080" cy="64008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Shape 6"/>
          <p:cNvSpPr/>
          <p:nvPr/>
        </p:nvSpPr>
        <p:spPr>
          <a:xfrm>
            <a:off x="4114800" y="196596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43400" y="2075688"/>
            <a:ext cx="31089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Thread: Client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43400" y="2423160"/>
            <a:ext cx="3108960" cy="594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handleClient() → xác thực TLS → LIST/GET → gửi dữ liệu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91840" y="2532888"/>
            <a:ext cx="822960" cy="0"/>
          </a:xfrm>
          <a:prstGeom prst="line">
            <a:avLst/>
          </a:prstGeom>
          <a:noFill/>
          <a:ln w="19050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0" y="333756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43400" y="3447288"/>
            <a:ext cx="31089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Thread: Client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43400" y="3794760"/>
            <a:ext cx="3108960" cy="594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handleClient() → xác thực TLS → LIST/GET → gửi dữ liệu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91840" y="3904488"/>
            <a:ext cx="822960" cy="0"/>
          </a:xfrm>
          <a:prstGeom prst="line">
            <a:avLst/>
          </a:prstGeom>
          <a:noFill/>
          <a:ln w="19050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0" y="470916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43400" y="4818888"/>
            <a:ext cx="3108960" cy="3200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Thread: Client 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343400" y="5166360"/>
            <a:ext cx="3108960" cy="594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handleClient() → xác thực TLS → LIST/GET → gửi dữ liệu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91840" y="5276088"/>
            <a:ext cx="822960" cy="0"/>
          </a:xfrm>
          <a:prstGeom prst="line">
            <a:avLst/>
          </a:prstGeom>
          <a:noFill/>
          <a:ln w="19050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001000" y="1965960"/>
            <a:ext cx="3611880" cy="402336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275320" y="2194560"/>
            <a:ext cx="3108960" cy="35661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 block main thread khi xử lý client nặng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client kết nối đồng thời không ảnh hưởng nhau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0A17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Tài nguyên (socket, buffer) cấp phát độc lập / client</a:t>
            </a:r>
            <a:endParaRPr lang="en-US" sz="1600" dirty="0">
              <a:solidFill>
                <a:srgbClr val="0A17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FLUX — Multi File Downloader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D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25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8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COMMAND HANDLING</a:t>
            </a:r>
            <a:endParaRPr lang="en-US" sz="12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7840" y="12527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2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Xử lý lệnh giao thức (LIST / GET)</a:t>
            </a:r>
            <a:endParaRPr lang="en-US" sz="32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610758"/>
              </p:ext>
            </p:extLst>
          </p:nvPr>
        </p:nvGraphicFramePr>
        <p:xfrm>
          <a:off x="502920" y="2121408"/>
          <a:ext cx="11150600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86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Lệnh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 động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  <a:endParaRPr lang="en-US" sz="1600" dirty="0">
                        <a:solidFill>
                          <a:srgbClr val="0A173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 danh sách (tên, dung lượng) toàn bộ file trong file_storage/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GET|file</a:t>
                      </a:r>
                      <a:endParaRPr lang="en-US" sz="1600" dirty="0">
                        <a:solidFill>
                          <a:srgbClr val="0A173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tra file tồn tại → gửi FILE|file|size → truyền toàn bộ nội dung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GET|file|start|end</a:t>
                      </a:r>
                      <a:endParaRPr lang="en-US" sz="1600" dirty="0">
                        <a:solidFill>
                          <a:srgbClr val="0A173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tra vùng byte hợp lệ → gửi FILE|file|chunk_size → truyền đúng đoạn [start,end]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&lt;lệnh lạ / thiếu tham số&gt;</a:t>
                      </a:r>
                      <a:endParaRPr lang="en-US" sz="1600" dirty="0">
                        <a:solidFill>
                          <a:srgbClr val="0A173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A173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 ERROR|message, không làm crash vòng lặp xử lý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55680" cy="2148840"/>
          </a:xfrm>
          <a:prstGeom prst="roundRect">
            <a:avLst>
              <a:gd name="adj" fmla="val 3830"/>
            </a:avLst>
          </a:prstGeom>
          <a:solidFill>
            <a:srgbClr val="0F1B2E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0A1730"/>
              </a:highlight>
            </a:endParaRPr>
          </a:p>
        </p:txBody>
      </p:sp>
      <p:sp>
        <p:nvSpPr>
          <p:cNvPr id="6" name="Text 3"/>
          <p:cNvSpPr/>
          <p:nvPr/>
        </p:nvSpPr>
        <p:spPr>
          <a:xfrm>
            <a:off x="746760" y="4712208"/>
            <a:ext cx="10698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command == p.GET: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filename = os.path.basename(parts[1])          # chống path traversal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len(parts) == 4:                             # GET|file|start|end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start, end = int(parts[2]), int(parts[3])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start &lt; 0 or end &gt;= full_size or start &gt; end: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p.send_line(conn, p.encode_error("Invalid range")); continue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p.send_line(conn, p.encode_file_header(filename, chunk_size))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open(filepath, "rb") as f: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f.seek(start)  # gửi đúng đoạn byte theo CHUNK_SIZE</a:t>
            </a:r>
            <a:endParaRPr lang="en-US" sz="1200" dirty="0">
              <a:solidFill>
                <a:srgbClr val="D8E4FF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881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ĐỊNH NGHĨA INPUT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134061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Input theo từng chức năng &amp; Ba tiêu chí đánh giá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D9C718D7-F178-5843-C521-4FCEEEABC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224481"/>
              </p:ext>
            </p:extLst>
          </p:nvPr>
        </p:nvGraphicFramePr>
        <p:xfrm>
          <a:off x="621792" y="2487168"/>
          <a:ext cx="6400800" cy="34366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Chức năng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Liệt kê file (LIST)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Không tham số — gửi khi kết nối / Refresh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Danh sách (tên, dung lượng) trên FileView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Tìm kiếm / lọc file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Chuỗi văn bản nhập vào ô tìm kiếm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Bảng file lọc theo tên, cập nhật tức thời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Tải file (GET)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filename; hoặc filename + start/end (range)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File / đoạn byte ghi vào client/downloads/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Hủy lượt tải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Tên file của lượt tải đang chạy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Luồng con bị ngắt, file tạm bị xoá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Kick client (Server)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Cặp (IP, port) client đang kết nối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Socket client bị đóng ngay lập tức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2">
            <a:extLst>
              <a:ext uri="{FF2B5EF4-FFF2-40B4-BE49-F238E27FC236}">
                <a16:creationId xmlns:a16="http://schemas.microsoft.com/office/drawing/2014/main" id="{42D15559-DFDC-5822-3893-79202E9DA94E}"/>
              </a:ext>
            </a:extLst>
          </p:cNvPr>
          <p:cNvSpPr/>
          <p:nvPr/>
        </p:nvSpPr>
        <p:spPr>
          <a:xfrm>
            <a:off x="7296912" y="2487168"/>
            <a:ext cx="4389120" cy="1033272"/>
          </a:xfrm>
          <a:prstGeom prst="roundRect">
            <a:avLst>
              <a:gd name="adj" fmla="val 8850"/>
            </a:avLst>
          </a:prstGeom>
          <a:solidFill>
            <a:srgbClr val="EA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AEE02D74-0125-090D-BDFA-CF762B993D83}"/>
              </a:ext>
            </a:extLst>
          </p:cNvPr>
          <p:cNvSpPr/>
          <p:nvPr/>
        </p:nvSpPr>
        <p:spPr>
          <a:xfrm>
            <a:off x="7434072" y="2633472"/>
            <a:ext cx="146304" cy="146304"/>
          </a:xfrm>
          <a:prstGeom prst="ellipse">
            <a:avLst/>
          </a:prstGeom>
          <a:solidFill>
            <a:srgbClr val="EAF7F7"/>
          </a:solidFill>
          <a:ln/>
        </p:spPr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480226E4-123D-A834-14AE-9223AA97EE39}"/>
              </a:ext>
            </a:extLst>
          </p:cNvPr>
          <p:cNvSpPr/>
          <p:nvPr/>
        </p:nvSpPr>
        <p:spPr>
          <a:xfrm>
            <a:off x="7680960" y="2560320"/>
            <a:ext cx="3931920" cy="32004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Correctness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097BD2CF-81B0-1EC8-738F-2DC2B0006192}"/>
              </a:ext>
            </a:extLst>
          </p:cNvPr>
          <p:cNvSpPr/>
          <p:nvPr/>
        </p:nvSpPr>
        <p:spPr>
          <a:xfrm>
            <a:off x="7680960" y="2889504"/>
            <a:ext cx="3931920" cy="59436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edge_test.py + 60 test case — xử lý an toàn input không hợp lệ.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EE921554-05EA-E3F3-61B7-40F53211A2CC}"/>
              </a:ext>
            </a:extLst>
          </p:cNvPr>
          <p:cNvSpPr/>
          <p:nvPr/>
        </p:nvSpPr>
        <p:spPr>
          <a:xfrm>
            <a:off x="7296912" y="3657600"/>
            <a:ext cx="4389120" cy="1033272"/>
          </a:xfrm>
          <a:prstGeom prst="roundRect">
            <a:avLst>
              <a:gd name="adj" fmla="val 8850"/>
            </a:avLst>
          </a:prstGeom>
          <a:solidFill>
            <a:srgbClr val="EA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152FE669-1B92-8E50-FA56-58A5F80E1EFA}"/>
              </a:ext>
            </a:extLst>
          </p:cNvPr>
          <p:cNvSpPr/>
          <p:nvPr/>
        </p:nvSpPr>
        <p:spPr>
          <a:xfrm>
            <a:off x="7434072" y="3803904"/>
            <a:ext cx="146304" cy="146304"/>
          </a:xfrm>
          <a:prstGeom prst="ellipse">
            <a:avLst/>
          </a:prstGeom>
          <a:solidFill>
            <a:srgbClr val="EAF7F7"/>
          </a:solidFill>
          <a:ln/>
        </p:spPr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F1E44CBE-6C56-85D0-5D7C-E94E9D7BEC67}"/>
              </a:ext>
            </a:extLst>
          </p:cNvPr>
          <p:cNvSpPr/>
          <p:nvPr/>
        </p:nvSpPr>
        <p:spPr>
          <a:xfrm>
            <a:off x="7680960" y="3730752"/>
            <a:ext cx="3931920" cy="32004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Performance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5C3AF70D-7EC2-531B-C075-480BC0E5F3F2}"/>
              </a:ext>
            </a:extLst>
          </p:cNvPr>
          <p:cNvSpPr/>
          <p:nvPr/>
        </p:nvSpPr>
        <p:spPr>
          <a:xfrm>
            <a:off x="7680960" y="4059936"/>
            <a:ext cx="3931920" cy="59436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stress_test.py 25 client song song, đo throughput MB/s.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622F162B-CA9B-86DC-0577-89DB2D8B4CA5}"/>
              </a:ext>
            </a:extLst>
          </p:cNvPr>
          <p:cNvSpPr/>
          <p:nvPr/>
        </p:nvSpPr>
        <p:spPr>
          <a:xfrm>
            <a:off x="7296912" y="4828032"/>
            <a:ext cx="4389120" cy="1033272"/>
          </a:xfrm>
          <a:prstGeom prst="roundRect">
            <a:avLst>
              <a:gd name="adj" fmla="val 8850"/>
            </a:avLst>
          </a:prstGeom>
          <a:solidFill>
            <a:srgbClr val="EA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06929F8D-9010-9F59-65A3-19E82B07868C}"/>
              </a:ext>
            </a:extLst>
          </p:cNvPr>
          <p:cNvSpPr/>
          <p:nvPr/>
        </p:nvSpPr>
        <p:spPr>
          <a:xfrm>
            <a:off x="7434072" y="4974336"/>
            <a:ext cx="146304" cy="146304"/>
          </a:xfrm>
          <a:prstGeom prst="ellipse">
            <a:avLst/>
          </a:prstGeom>
          <a:solidFill>
            <a:srgbClr val="EAF7F7"/>
          </a:solidFill>
          <a:ln/>
        </p:spPr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228B7C93-5113-3FF9-D1E2-359A5C7F6FE6}"/>
              </a:ext>
            </a:extLst>
          </p:cNvPr>
          <p:cNvSpPr/>
          <p:nvPr/>
        </p:nvSpPr>
        <p:spPr>
          <a:xfrm>
            <a:off x="7680960" y="4901184"/>
            <a:ext cx="3931920" cy="32004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Security &amp; Stability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93C02F72-CF1C-B9F9-2A40-5D262E3B5939}"/>
              </a:ext>
            </a:extLst>
          </p:cNvPr>
          <p:cNvSpPr/>
          <p:nvPr/>
        </p:nvSpPr>
        <p:spPr>
          <a:xfrm>
            <a:off x="7680960" y="5230368"/>
            <a:ext cx="3931920" cy="594360"/>
          </a:xfrm>
          <a:prstGeom prst="rect">
            <a:avLst/>
          </a:prstGeom>
          <a:solidFill>
            <a:srgbClr val="EAF7F7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SSL/TLS toàn kênh, GUI không đơ nhờ Signal/Slot.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20" y="9052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DOWNLOADCOORDINATOR.PY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120" y="110642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22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Cơ chế tải đa luồng — DownloadCoordinator</a:t>
            </a:r>
            <a:endParaRPr lang="en-US" sz="32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309360" cy="4681728"/>
          </a:xfrm>
          <a:prstGeom prst="roundRect">
            <a:avLst>
              <a:gd name="adj" fmla="val 1837"/>
            </a:avLst>
          </a:prstGeom>
          <a:solidFill>
            <a:srgbClr val="081226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MIN_CHUNK_SIZE = 8 * 1024 * 1024   # 8 MB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MAX_CHUNKS = 6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_calculate_chunk_count(size):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size &lt; MIN_CHUNK_SIZE: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size // MIN_CHUNK_SIZE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max(1, min(n, MAX_CHUNKS))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start(self):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self._calculate_chunk_count(total_size)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ranges = self._split_ranges(total_size, n)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 = os.open(save_path, O_WRONLY|O_CREAT)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os.ftruncate(fd, total_size)  # cấp phát trước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(start, end) in enumerate(ranges):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chunk = ChunkDownloadThread(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filename, save_path, start, end)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chunk.progress.connect(...)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self._chunks.append(chunk)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chunk in self._chunks:</a:t>
            </a:r>
            <a:endParaRPr lang="en-US" sz="11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chunk.start()          # chạy song song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7178040" y="1828800"/>
            <a:ext cx="4434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Chia range động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≥ 8MB được chia tối đa 6 đoạn song song; file nhỏ giữ nguyên 1 luồng.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os.ftruncate() cấp phát trước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phép nhiều luồng ghi an toàn vào các vùng không chồng lấn của cùng 1 file.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Gộp tiến trình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_emit_aggregate_progress() cộng dồn bytes &amp; speed của mọi chunk thành 1 luồng báo cáo duy nhất.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54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/ GUI / WORKERS.PY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36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ChunkDownloadThread — ghi file song song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217920" cy="4206240"/>
          </a:xfrm>
          <a:prstGeom prst="roundRect">
            <a:avLst>
              <a:gd name="adj" fmla="val 1957"/>
            </a:avLst>
          </a:prstGeom>
          <a:solidFill>
            <a:srgbClr val="081226"/>
          </a:solidFill>
          <a:ln w="9525">
            <a:solidFill>
              <a:srgbClr val="264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ChunkDownloadThread(QThread):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run(self):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Client()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 = open(save_path, "r+b")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f.seek(self.range_start)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success, msg = c.download_range(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filename, range_start, range_end,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f, on_progress=on_progress,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is_cancelled=lambda: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self.isInterruptionRequested())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success: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self.finished_chunk.emit(True, "")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200" dirty="0">
              <a:solidFill>
                <a:srgbClr val="D8E4FF"/>
              </a:solidFill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self.finished_chunk.emit(False, msg)</a:t>
            </a:r>
            <a:endParaRPr lang="en-US" sz="1200" dirty="0">
              <a:solidFill>
                <a:srgbClr val="D8E4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086600" y="1828800"/>
            <a:ext cx="530352" cy="530352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9568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810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QThread độc lập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0" y="21762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Mỗi đoạn tải chạy trên một QThread riêng, không chặn giao diện chính.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86600" y="3246120"/>
            <a:ext cx="530352" cy="530352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33741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Tiến trình realtime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772400" y="35935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Phát tín hiệu progress mỗi ~0.2s: số byte nhận, tốc độ tức thời.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086600" y="4663440"/>
            <a:ext cx="530352" cy="530352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47914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4645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Huỷ &amp; dọn dẹp an toàn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772400" y="501091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Khi có 1 chunk lỗi/huỷ, các chunk còn lại bị huỷ, file tạm bị xoá.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B4EF865C-C9ED-ACE5-CED0-5D69374192A9}"/>
              </a:ext>
            </a:extLst>
          </p:cNvPr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/ CLIENTGUI.PY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997770D9-9246-F41E-5383-18A681FF342F}"/>
              </a:ext>
            </a:extLst>
          </p:cNvPr>
          <p:cNvSpPr/>
          <p:nvPr/>
        </p:nvSpPr>
        <p:spPr>
          <a:xfrm>
            <a:off x="548640" y="1005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22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Client GUI — FLUX Client</a:t>
            </a:r>
            <a:endParaRPr lang="en-US" sz="32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297C01D-6EAD-A713-1E00-B3CC02EAE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6" y="1824761"/>
            <a:ext cx="4432703" cy="4720481"/>
          </a:xfrm>
          <a:prstGeom prst="rect">
            <a:avLst/>
          </a:prstGeom>
        </p:spPr>
      </p:pic>
      <p:sp>
        <p:nvSpPr>
          <p:cNvPr id="68" name="Text 16">
            <a:extLst>
              <a:ext uri="{FF2B5EF4-FFF2-40B4-BE49-F238E27FC236}">
                <a16:creationId xmlns:a16="http://schemas.microsoft.com/office/drawing/2014/main" id="{262723BF-BED3-C0D3-120D-C1703825345D}"/>
              </a:ext>
            </a:extLst>
          </p:cNvPr>
          <p:cNvSpPr/>
          <p:nvPr/>
        </p:nvSpPr>
        <p:spPr>
          <a:xfrm>
            <a:off x="6468468" y="1371600"/>
            <a:ext cx="4709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  <a:buSzPct val="100000"/>
            </a:pP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10">
            <a:extLst>
              <a:ext uri="{FF2B5EF4-FFF2-40B4-BE49-F238E27FC236}">
                <a16:creationId xmlns:a16="http://schemas.microsoft.com/office/drawing/2014/main" id="{266FB016-F3D3-C6C1-1650-654D87A06068}"/>
              </a:ext>
            </a:extLst>
          </p:cNvPr>
          <p:cNvSpPr/>
          <p:nvPr/>
        </p:nvSpPr>
        <p:spPr>
          <a:xfrm>
            <a:off x="5915256" y="4023360"/>
            <a:ext cx="2697480" cy="196596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AC05E1DF-57AC-972D-A99C-7100CFEA4264}"/>
              </a:ext>
            </a:extLst>
          </p:cNvPr>
          <p:cNvSpPr/>
          <p:nvPr/>
        </p:nvSpPr>
        <p:spPr>
          <a:xfrm>
            <a:off x="6893664" y="4251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Image 2" descr="/home/claude/pptxwork2/icons/chart_w.png">
            <a:extLst>
              <a:ext uri="{FF2B5EF4-FFF2-40B4-BE49-F238E27FC236}">
                <a16:creationId xmlns:a16="http://schemas.microsoft.com/office/drawing/2014/main" id="{0DF69BCD-D99B-BF49-103B-03F20749E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903" y="4332199"/>
            <a:ext cx="433883" cy="43388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6" name="Text 12">
            <a:extLst>
              <a:ext uri="{FF2B5EF4-FFF2-40B4-BE49-F238E27FC236}">
                <a16:creationId xmlns:a16="http://schemas.microsoft.com/office/drawing/2014/main" id="{0C6C396C-8688-0B0D-AE72-674665981CAB}"/>
              </a:ext>
            </a:extLst>
          </p:cNvPr>
          <p:cNvSpPr/>
          <p:nvPr/>
        </p:nvSpPr>
        <p:spPr>
          <a:xfrm>
            <a:off x="6052416" y="4983480"/>
            <a:ext cx="24231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Theo dõi tiến độ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3EE7A77E-BD3E-1921-0B4C-3F52F5B7C269}"/>
              </a:ext>
            </a:extLst>
          </p:cNvPr>
          <p:cNvSpPr/>
          <p:nvPr/>
        </p:nvSpPr>
        <p:spPr>
          <a:xfrm>
            <a:off x="6052416" y="5440680"/>
            <a:ext cx="242316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%, tốc độ, ETA cho từng lượt tải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14">
            <a:extLst>
              <a:ext uri="{FF2B5EF4-FFF2-40B4-BE49-F238E27FC236}">
                <a16:creationId xmlns:a16="http://schemas.microsoft.com/office/drawing/2014/main" id="{7FF185DB-2081-8887-7A26-EDF0700EB49E}"/>
              </a:ext>
            </a:extLst>
          </p:cNvPr>
          <p:cNvSpPr/>
          <p:nvPr/>
        </p:nvSpPr>
        <p:spPr>
          <a:xfrm>
            <a:off x="8749896" y="4023360"/>
            <a:ext cx="2697480" cy="196596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15">
            <a:extLst>
              <a:ext uri="{FF2B5EF4-FFF2-40B4-BE49-F238E27FC236}">
                <a16:creationId xmlns:a16="http://schemas.microsoft.com/office/drawing/2014/main" id="{2BE3E150-F334-843B-6A8A-20570AD75FF2}"/>
              </a:ext>
            </a:extLst>
          </p:cNvPr>
          <p:cNvSpPr/>
          <p:nvPr/>
        </p:nvSpPr>
        <p:spPr>
          <a:xfrm>
            <a:off x="9728304" y="4251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4" name="Image 3" descr="/home/claude/pptxwork2/icons/file_w.png">
            <a:extLst>
              <a:ext uri="{FF2B5EF4-FFF2-40B4-BE49-F238E27FC236}">
                <a16:creationId xmlns:a16="http://schemas.microsoft.com/office/drawing/2014/main" id="{A1E9A424-D0C1-560A-B4F4-2E70950EB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8543" y="4332199"/>
            <a:ext cx="433883" cy="43388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6" name="Text 16">
            <a:extLst>
              <a:ext uri="{FF2B5EF4-FFF2-40B4-BE49-F238E27FC236}">
                <a16:creationId xmlns:a16="http://schemas.microsoft.com/office/drawing/2014/main" id="{CD85CF33-BB9C-6C72-89C7-1BC21599D08C}"/>
              </a:ext>
            </a:extLst>
          </p:cNvPr>
          <p:cNvSpPr/>
          <p:nvPr/>
        </p:nvSpPr>
        <p:spPr>
          <a:xfrm>
            <a:off x="8887056" y="4983480"/>
            <a:ext cx="24231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Trạng thái file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17">
            <a:extLst>
              <a:ext uri="{FF2B5EF4-FFF2-40B4-BE49-F238E27FC236}">
                <a16:creationId xmlns:a16="http://schemas.microsoft.com/office/drawing/2014/main" id="{31911C5C-30DE-F697-0283-B0DA5DA75A51}"/>
              </a:ext>
            </a:extLst>
          </p:cNvPr>
          <p:cNvSpPr/>
          <p:nvPr/>
        </p:nvSpPr>
        <p:spPr>
          <a:xfrm>
            <a:off x="8887056" y="5440680"/>
            <a:ext cx="242316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Idle → Downloading → Downloaded/Failed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9092C1F5-9967-67F9-00DF-AD8476883477}"/>
              </a:ext>
            </a:extLst>
          </p:cNvPr>
          <p:cNvSpPr/>
          <p:nvPr/>
        </p:nvSpPr>
        <p:spPr>
          <a:xfrm>
            <a:off x="5915256" y="1828800"/>
            <a:ext cx="2697480" cy="196596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hape 3">
            <a:extLst>
              <a:ext uri="{FF2B5EF4-FFF2-40B4-BE49-F238E27FC236}">
                <a16:creationId xmlns:a16="http://schemas.microsoft.com/office/drawing/2014/main" id="{6FA978FA-E1C1-DCE6-6DC1-15245778FBC2}"/>
              </a:ext>
            </a:extLst>
          </p:cNvPr>
          <p:cNvSpPr/>
          <p:nvPr/>
        </p:nvSpPr>
        <p:spPr>
          <a:xfrm>
            <a:off x="6893664" y="205740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Image 0" descr="/home/claude/pptxwork2/icons/search_w.png">
            <a:extLst>
              <a:ext uri="{FF2B5EF4-FFF2-40B4-BE49-F238E27FC236}">
                <a16:creationId xmlns:a16="http://schemas.microsoft.com/office/drawing/2014/main" id="{9AC9080E-5B4B-4748-10EF-08149EE7C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903" y="2137639"/>
            <a:ext cx="433883" cy="43388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6" name="Text 4">
            <a:extLst>
              <a:ext uri="{FF2B5EF4-FFF2-40B4-BE49-F238E27FC236}">
                <a16:creationId xmlns:a16="http://schemas.microsoft.com/office/drawing/2014/main" id="{BAB7DE6E-9648-15DA-EA55-259483BCF014}"/>
              </a:ext>
            </a:extLst>
          </p:cNvPr>
          <p:cNvSpPr/>
          <p:nvPr/>
        </p:nvSpPr>
        <p:spPr>
          <a:xfrm>
            <a:off x="6052416" y="2788920"/>
            <a:ext cx="24231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Danh sách &amp; tìm kiếm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5">
            <a:extLst>
              <a:ext uri="{FF2B5EF4-FFF2-40B4-BE49-F238E27FC236}">
                <a16:creationId xmlns:a16="http://schemas.microsoft.com/office/drawing/2014/main" id="{CCA125F3-DE11-0EE7-28CD-0C66091C8806}"/>
              </a:ext>
            </a:extLst>
          </p:cNvPr>
          <p:cNvSpPr/>
          <p:nvPr/>
        </p:nvSpPr>
        <p:spPr>
          <a:xfrm>
            <a:off x="6052416" y="3246120"/>
            <a:ext cx="242316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Bảng file, lọc theo tên, chọn nhiều file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hape 6">
            <a:extLst>
              <a:ext uri="{FF2B5EF4-FFF2-40B4-BE49-F238E27FC236}">
                <a16:creationId xmlns:a16="http://schemas.microsoft.com/office/drawing/2014/main" id="{82D47AA9-5FD9-B9F6-6109-87A233A6E09D}"/>
              </a:ext>
            </a:extLst>
          </p:cNvPr>
          <p:cNvSpPr/>
          <p:nvPr/>
        </p:nvSpPr>
        <p:spPr>
          <a:xfrm>
            <a:off x="8749896" y="1828800"/>
            <a:ext cx="2697480" cy="1965960"/>
          </a:xfrm>
          <a:prstGeom prst="roundRect">
            <a:avLst>
              <a:gd name="adj" fmla="val 4186"/>
            </a:avLst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Shape 7">
            <a:extLst>
              <a:ext uri="{FF2B5EF4-FFF2-40B4-BE49-F238E27FC236}">
                <a16:creationId xmlns:a16="http://schemas.microsoft.com/office/drawing/2014/main" id="{668D7A39-1A85-FFB3-0623-B06004089578}"/>
              </a:ext>
            </a:extLst>
          </p:cNvPr>
          <p:cNvSpPr/>
          <p:nvPr/>
        </p:nvSpPr>
        <p:spPr>
          <a:xfrm>
            <a:off x="9728304" y="205740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160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" name="Image 1" descr="/home/claude/pptxwork2/icons/download_w.png">
            <a:extLst>
              <a:ext uri="{FF2B5EF4-FFF2-40B4-BE49-F238E27FC236}">
                <a16:creationId xmlns:a16="http://schemas.microsoft.com/office/drawing/2014/main" id="{BDF77B63-99B6-BA0D-5270-31AB73FD6A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8543" y="2137639"/>
            <a:ext cx="433883" cy="43388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6" name="Text 8">
            <a:extLst>
              <a:ext uri="{FF2B5EF4-FFF2-40B4-BE49-F238E27FC236}">
                <a16:creationId xmlns:a16="http://schemas.microsoft.com/office/drawing/2014/main" id="{220EA946-3CFD-531A-F13C-355C2D1BC262}"/>
              </a:ext>
            </a:extLst>
          </p:cNvPr>
          <p:cNvSpPr/>
          <p:nvPr/>
        </p:nvSpPr>
        <p:spPr>
          <a:xfrm>
            <a:off x="8887056" y="2788920"/>
            <a:ext cx="24231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2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Nút Download Selected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9">
            <a:extLst>
              <a:ext uri="{FF2B5EF4-FFF2-40B4-BE49-F238E27FC236}">
                <a16:creationId xmlns:a16="http://schemas.microsoft.com/office/drawing/2014/main" id="{18224EFB-5222-3D2B-FDC2-D784118FC140}"/>
              </a:ext>
            </a:extLst>
          </p:cNvPr>
          <p:cNvSpPr/>
          <p:nvPr/>
        </p:nvSpPr>
        <p:spPr>
          <a:xfrm>
            <a:off x="8887056" y="3246120"/>
            <a:ext cx="242316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Tải nhiều file đã chọn cùng lúc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87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/ SERVERGUI.PY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1226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Server GUI — FLUX Control Panel</a:t>
            </a:r>
            <a:endParaRPr lang="en-US" sz="32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9440" y="4886960"/>
            <a:ext cx="4709160" cy="146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6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client: IP, port, thời gian, hành động hiện tại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Console log trực tiếp mọi sự kiện hệ thống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Kick client — ngắt kết nối cưỡng bức 1 client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6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Lịch sử tải &amp; số lần mỗi file được tải</a:t>
            </a:r>
            <a:endParaRPr lang="en-US" sz="16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3FBE666-E637-C497-94C0-9F1DE6C62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044" y="1702707"/>
            <a:ext cx="5425910" cy="25148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161F26B-FD86-1D4F-9A64-47826D1ED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044" y="4232765"/>
            <a:ext cx="5425910" cy="48010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621837B-1592-891F-9C13-2EEA7547B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907070"/>
            <a:ext cx="5464013" cy="351312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3EDEDD9-89F9-D838-8A6A-48A2D409F882}"/>
              </a:ext>
            </a:extLst>
          </p:cNvPr>
          <p:cNvSpPr txBox="1"/>
          <p:nvPr/>
        </p:nvSpPr>
        <p:spPr>
          <a:xfrm>
            <a:off x="548640" y="5457270"/>
            <a:ext cx="6096000" cy="897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Start/Stop server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trực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tiếp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từ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giao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diện</a:t>
            </a:r>
            <a:endParaRPr lang="en-US" sz="18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Đèn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trạng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thái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uptime +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tốc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độ</a:t>
            </a:r>
            <a:r>
              <a:rPr lang="en-US" sz="1800" dirty="0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upload </a:t>
            </a:r>
            <a:r>
              <a:rPr lang="en-US" sz="1800" dirty="0" err="1">
                <a:solidFill>
                  <a:srgbClr val="08122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realtime</a:t>
            </a:r>
            <a:endParaRPr lang="en-US" sz="1800" dirty="0">
              <a:solidFill>
                <a:srgbClr val="081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3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ERROR HANDLING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15417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Xử lý lỗi &amp; các trường hợp biên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986532"/>
              </p:ext>
            </p:extLst>
          </p:nvPr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Tình huống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Xử lý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Tên file rỗng / chứa đường dẫn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os.path.basename() loại bỏ path; rỗng → ERROR|Invalid filename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File không tồn tại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ERROR|File not found, không crash Server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Range không hợp lệ (start&gt;end, end≥size)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ERROR|Invalid range, huỷ yêu cầu ngay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Client ngắt kết nối giữa chừng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Ghi nhận Failed/Incomplete, thread giải phóng, Server vẫn chạy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Lệnh không xác định / dữ liệu rác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224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ERROR|Unknown command, không crash</a:t>
                      </a:r>
                      <a:endParaRPr lang="en-US" sz="16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7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322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Toàn bộ 26 kịch bản trên được kiểm chứng tự động bằng Code/tests/edge_test.py, kết nối trực tiếp tới Server thật qua TLS.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2717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 System</a:t>
            </a:r>
            <a:endParaRPr lang="en-US" sz="16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4102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Demo hệ thống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2240280"/>
            <a:ext cx="5440680" cy="3657600"/>
          </a:xfrm>
          <a:prstGeom prst="roundRect">
            <a:avLst>
              <a:gd name="adj" fmla="val 1957"/>
            </a:avLst>
          </a:prstGeom>
          <a:solidFill>
            <a:srgbClr val="0A1730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428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— port 5000</a:t>
            </a:r>
            <a:endParaRPr lang="en-US" sz="1300" dirty="0">
              <a:solidFill>
                <a:srgbClr val="D8E4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[SERVER ] Listening on 0.0.0.0:5000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[SERVER ] Client connected: ('192.168.1.5', 51422)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[TLS    ] Handshake OK with 192.168.1.5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[REQUEST] 192.168.1.5 -&gt; LIST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[RESP   ] 192.168.1.5 &lt;- LIST (3 files)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[REQUEST] 192.168.1.5 -&gt; GET|duck.jpg|0|204799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[RESP   ] SEND duck.jpg [0:204799] OK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[STATS  ] upload_speed = 3.4 MB/s</a:t>
            </a:r>
            <a:endParaRPr lang="en-US" sz="1150" dirty="0">
              <a:solidFill>
                <a:srgbClr val="D8E4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172200" y="2240280"/>
            <a:ext cx="5440680" cy="3657600"/>
          </a:xfrm>
          <a:prstGeom prst="roundRect">
            <a:avLst>
              <a:gd name="adj" fmla="val 1957"/>
            </a:avLst>
          </a:prstGeom>
          <a:solidFill>
            <a:srgbClr val="081226"/>
          </a:solidFill>
          <a:ln w="12700">
            <a:solidFill>
              <a:srgbClr val="273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2428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— clientGui.py</a:t>
            </a:r>
            <a:endParaRPr lang="en-US" sz="1300" dirty="0">
              <a:solidFill>
                <a:srgbClr val="D8E4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Đã kết nối tới 192.168.1.10:5000 (TLS OK)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Đã tải danh sách: 3 file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Đã chọn: duck.jpg (400 KB)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Đang tải duck.jpg [chunk 1/3] ...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Đang tải duck.jpg [chunk 2/3] ...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Đang tải duck.jpg [chunk 3/3] ...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duck.jpg — Downloaded (100%) — 1.9 MB/s</a:t>
            </a:r>
            <a:endParaRPr lang="en-US" sz="1150" dirty="0">
              <a:solidFill>
                <a:srgbClr val="D8E4FF"/>
              </a:solidFill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Đã lưu tại client/downloads/duck.jpg</a:t>
            </a:r>
            <a:endParaRPr lang="en-US" sz="1150" dirty="0">
              <a:solidFill>
                <a:srgbClr val="D8E4F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41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ĐÁNH GIÁ</a:t>
            </a:r>
            <a:endParaRPr lang="en-US" sz="16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Ưu điểm</a:t>
            </a:r>
            <a:endParaRPr lang="en-US" sz="3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20440"/>
          </a:xfrm>
          <a:prstGeom prst="roundRect">
            <a:avLst>
              <a:gd name="adj" fmla="val 421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04672" y="2240280"/>
            <a:ext cx="594360" cy="59436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3865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Đa luồng thực thụ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7490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Thread-per-client phía Server + tải đa chunk phía Client → N client / N đoạn không ảnh hưởng nhau.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55848" y="1965960"/>
            <a:ext cx="2606040" cy="3520440"/>
          </a:xfrm>
          <a:prstGeom prst="roundRect">
            <a:avLst>
              <a:gd name="adj" fmla="val 421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11880" y="2240280"/>
            <a:ext cx="594360" cy="59436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3865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Tốc độ tải tối ưu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84448" y="37490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Tải song song tối đa 6 đoạn/file giúp tận dụng băng thông tốt hơn tải tuần tự.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63056" y="1965960"/>
            <a:ext cx="2606040" cy="3520440"/>
          </a:xfrm>
          <a:prstGeom prst="roundRect">
            <a:avLst>
              <a:gd name="adj" fmla="val 421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19088" y="2240280"/>
            <a:ext cx="594360" cy="59436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3865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Bảo mật kênh truyền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91656" y="37490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Toàn bộ dữ liệu mã hoá TLS; filename được chuẩn hoá chống path traversal.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970264" y="1965960"/>
            <a:ext cx="2606040" cy="3520440"/>
          </a:xfrm>
          <a:prstGeom prst="roundRect">
            <a:avLst>
              <a:gd name="adj" fmla="val 4211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226296" y="2240280"/>
            <a:ext cx="594360" cy="59436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3865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GUI mượt, không đơ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198864" y="37490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Mọi tác vụ mạng chạy nền qua QThread/Signal-Slot, giao diện luôn phản hồi tức thời.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921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ĐÁNH GIÁ</a:t>
            </a:r>
            <a:endParaRPr lang="en-US" sz="1600" dirty="0">
              <a:solidFill>
                <a:srgbClr val="FF9A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Hạn chế</a:t>
            </a:r>
            <a:endParaRPr lang="en-US" sz="3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520440"/>
          </a:xfrm>
          <a:prstGeom prst="roundRect">
            <a:avLst>
              <a:gd name="adj" fmla="val 32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597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Chưa resume download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Giao thức Range Request đã sẵn sàng nhưng chưa hỗ trợ tiếp tục tải khi mất kết nối giữa chừng.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429000" cy="3520440"/>
          </a:xfrm>
          <a:prstGeom prst="roundRect">
            <a:avLst>
              <a:gd name="adj" fmla="val 32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17720" y="2286000"/>
            <a:ext cx="685800" cy="6858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4597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Chưa xác thực người dùng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17720" y="38404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Chưa có cơ chế đăng nhập hay phân quyền thư mục chia sẻ trên Server.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29000" cy="3520440"/>
          </a:xfrm>
          <a:prstGeom prst="roundRect">
            <a:avLst>
              <a:gd name="adj" fmla="val 32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366760" y="2286000"/>
            <a:ext cx="685800" cy="68580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4597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00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Chỉ hỗ trợ download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366760" y="38404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hiện chưa hỗ trợ tải lên (upload) file lên Server.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51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ROADMAP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43662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24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Hướng phát triển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— Multi File Downloader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C277494B-EE7F-AD4D-C3E1-4E1599632A03}"/>
              </a:ext>
            </a:extLst>
          </p:cNvPr>
          <p:cNvSpPr/>
          <p:nvPr/>
        </p:nvSpPr>
        <p:spPr>
          <a:xfrm>
            <a:off x="548640" y="2506472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CAADEDA6-89BE-2861-6329-8AA48A769234}"/>
              </a:ext>
            </a:extLst>
          </p:cNvPr>
          <p:cNvSpPr/>
          <p:nvPr/>
        </p:nvSpPr>
        <p:spPr>
          <a:xfrm>
            <a:off x="804672" y="2780792"/>
            <a:ext cx="640080" cy="64008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EAC61EFB-7DA9-0E0D-1AAB-20220D8ED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945384"/>
            <a:ext cx="310896" cy="310896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FFB45605-867A-6109-714E-C13CB43FA530}"/>
              </a:ext>
            </a:extLst>
          </p:cNvPr>
          <p:cNvSpPr/>
          <p:nvPr/>
        </p:nvSpPr>
        <p:spPr>
          <a:xfrm>
            <a:off x="777240" y="36037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Xác thực &amp; phân quyền</a:t>
            </a:r>
            <a:endParaRPr lang="en-US" sz="1600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349DEBF-AE0C-B98A-54A5-ADAA5786F054}"/>
              </a:ext>
            </a:extLst>
          </p:cNvPr>
          <p:cNvSpPr/>
          <p:nvPr/>
        </p:nvSpPr>
        <p:spPr>
          <a:xfrm>
            <a:off x="777240" y="4380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Đăng nhập người dùng, phân quyền thư mục chia sẻ.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642193A4-AC24-0DDE-325E-83095707C5AA}"/>
              </a:ext>
            </a:extLst>
          </p:cNvPr>
          <p:cNvSpPr/>
          <p:nvPr/>
        </p:nvSpPr>
        <p:spPr>
          <a:xfrm>
            <a:off x="3355848" y="2506472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293841A7-F09D-9B64-463A-0F4A01908211}"/>
              </a:ext>
            </a:extLst>
          </p:cNvPr>
          <p:cNvSpPr/>
          <p:nvPr/>
        </p:nvSpPr>
        <p:spPr>
          <a:xfrm>
            <a:off x="3611880" y="2780792"/>
            <a:ext cx="640080" cy="64008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98CD0234-24EB-CC44-1E4D-D0C396411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945384"/>
            <a:ext cx="310896" cy="310896"/>
          </a:xfrm>
          <a:prstGeom prst="rect">
            <a:avLst/>
          </a:prstGeom>
        </p:spPr>
      </p:pic>
      <p:sp>
        <p:nvSpPr>
          <p:cNvPr id="43" name="Text 8">
            <a:extLst>
              <a:ext uri="{FF2B5EF4-FFF2-40B4-BE49-F238E27FC236}">
                <a16:creationId xmlns:a16="http://schemas.microsoft.com/office/drawing/2014/main" id="{FCAC11FD-8C28-7149-2345-F68B10C7BD08}"/>
              </a:ext>
            </a:extLst>
          </p:cNvPr>
          <p:cNvSpPr/>
          <p:nvPr/>
        </p:nvSpPr>
        <p:spPr>
          <a:xfrm>
            <a:off x="3584448" y="36037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Resume download</a:t>
            </a:r>
            <a:endParaRPr lang="en-US" sz="1600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2A32FDBA-F7EE-2573-899B-EB5429A236DE}"/>
              </a:ext>
            </a:extLst>
          </p:cNvPr>
          <p:cNvSpPr/>
          <p:nvPr/>
        </p:nvSpPr>
        <p:spPr>
          <a:xfrm>
            <a:off x="3584448" y="4380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Tiếp tục tải khi mất kết nối, dựa trên Range Request sẵn có.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4B212D41-D50A-F849-4CCB-EA357D76ACF1}"/>
              </a:ext>
            </a:extLst>
          </p:cNvPr>
          <p:cNvSpPr/>
          <p:nvPr/>
        </p:nvSpPr>
        <p:spPr>
          <a:xfrm>
            <a:off x="6163056" y="2506472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D2437D8A-C507-EE16-B58E-4BDB3B41912F}"/>
              </a:ext>
            </a:extLst>
          </p:cNvPr>
          <p:cNvSpPr/>
          <p:nvPr/>
        </p:nvSpPr>
        <p:spPr>
          <a:xfrm>
            <a:off x="6419088" y="2780792"/>
            <a:ext cx="640080" cy="64008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Image 2" descr="preencoded.png">
            <a:extLst>
              <a:ext uri="{FF2B5EF4-FFF2-40B4-BE49-F238E27FC236}">
                <a16:creationId xmlns:a16="http://schemas.microsoft.com/office/drawing/2014/main" id="{81C21805-6BC6-465F-6673-2C839B900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945384"/>
            <a:ext cx="310896" cy="310896"/>
          </a:xfrm>
          <a:prstGeom prst="rect">
            <a:avLst/>
          </a:prstGeom>
        </p:spPr>
      </p:pic>
      <p:sp>
        <p:nvSpPr>
          <p:cNvPr id="53" name="Text 12">
            <a:extLst>
              <a:ext uri="{FF2B5EF4-FFF2-40B4-BE49-F238E27FC236}">
                <a16:creationId xmlns:a16="http://schemas.microsoft.com/office/drawing/2014/main" id="{F94B6288-66A6-116D-8ED5-6A0AAB4A49E2}"/>
              </a:ext>
            </a:extLst>
          </p:cNvPr>
          <p:cNvSpPr/>
          <p:nvPr/>
        </p:nvSpPr>
        <p:spPr>
          <a:xfrm>
            <a:off x="6391656" y="36037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Upload file</a:t>
            </a:r>
            <a:endParaRPr lang="en-US" sz="1600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6E03EAAB-305C-0E7B-599F-04571721CDE7}"/>
              </a:ext>
            </a:extLst>
          </p:cNvPr>
          <p:cNvSpPr/>
          <p:nvPr/>
        </p:nvSpPr>
        <p:spPr>
          <a:xfrm>
            <a:off x="6391656" y="4380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phép Client tải file lên Server, không chỉ tải xuống.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8090AB98-E515-40DA-E384-DFAAEAAAE7D1}"/>
              </a:ext>
            </a:extLst>
          </p:cNvPr>
          <p:cNvSpPr/>
          <p:nvPr/>
        </p:nvSpPr>
        <p:spPr>
          <a:xfrm>
            <a:off x="8970264" y="2506472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blurRad="76200" dist="25400" dir="5400000" algn="bl" rotWithShape="0">
              <a:srgbClr val="1B2A55">
                <a:alpha val="8000"/>
              </a:srgbClr>
            </a:outerShdw>
          </a:effectLst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F578B5B2-2284-0593-6C4F-CD733AF9F848}"/>
              </a:ext>
            </a:extLst>
          </p:cNvPr>
          <p:cNvSpPr/>
          <p:nvPr/>
        </p:nvSpPr>
        <p:spPr>
          <a:xfrm>
            <a:off x="9226296" y="2780792"/>
            <a:ext cx="640080" cy="640080"/>
          </a:xfrm>
          <a:prstGeom prst="ellipse">
            <a:avLst/>
          </a:prstGeom>
          <a:solidFill>
            <a:srgbClr val="FF9A4D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Image 3" descr="preencoded.png">
            <a:extLst>
              <a:ext uri="{FF2B5EF4-FFF2-40B4-BE49-F238E27FC236}">
                <a16:creationId xmlns:a16="http://schemas.microsoft.com/office/drawing/2014/main" id="{960CC767-8871-D472-0F75-0CC713BE73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2945384"/>
            <a:ext cx="310896" cy="310896"/>
          </a:xfrm>
          <a:prstGeom prst="rect">
            <a:avLst/>
          </a:prstGeom>
        </p:spPr>
      </p:pic>
      <p:sp>
        <p:nvSpPr>
          <p:cNvPr id="63" name="Text 16">
            <a:extLst>
              <a:ext uri="{FF2B5EF4-FFF2-40B4-BE49-F238E27FC236}">
                <a16:creationId xmlns:a16="http://schemas.microsoft.com/office/drawing/2014/main" id="{AD30B1A7-95D9-56C3-B0A8-F0DA00F4DD14}"/>
              </a:ext>
            </a:extLst>
          </p:cNvPr>
          <p:cNvSpPr/>
          <p:nvPr/>
        </p:nvSpPr>
        <p:spPr>
          <a:xfrm>
            <a:off x="9198864" y="36037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7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Đóng gói .exe</a:t>
            </a:r>
            <a:endParaRPr lang="en-US" sz="1600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2D1296F8-1000-1104-C170-D5532A0ED48A}"/>
              </a:ext>
            </a:extLst>
          </p:cNvPr>
          <p:cNvSpPr/>
          <p:nvPr/>
        </p:nvSpPr>
        <p:spPr>
          <a:xfrm>
            <a:off x="9198864" y="4380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PyInstaller để triển khai không cần cài Python.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07922"/>
            <a:ext cx="1082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KẾT LUẬN</a:t>
            </a:r>
            <a:endParaRPr lang="en-US" sz="32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088136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10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DF0E4364-A78A-1F43-1BA2-C96DBB90D9F8}"/>
              </a:ext>
            </a:extLst>
          </p:cNvPr>
          <p:cNvSpPr/>
          <p:nvPr/>
        </p:nvSpPr>
        <p:spPr>
          <a:xfrm>
            <a:off x="610362" y="2316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0" descr="/home/claude/pptxwork2/icons/check_w.png">
            <a:extLst>
              <a:ext uri="{FF2B5EF4-FFF2-40B4-BE49-F238E27FC236}">
                <a16:creationId xmlns:a16="http://schemas.microsoft.com/office/drawing/2014/main" id="{2327F29B-AD19-305C-50BC-32F5905C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378202"/>
            <a:ext cx="333756" cy="333756"/>
          </a:xfrm>
          <a:prstGeom prst="rect">
            <a:avLst/>
          </a:prstGeom>
        </p:spPr>
      </p:pic>
      <p:sp>
        <p:nvSpPr>
          <p:cNvPr id="22" name="Text 3">
            <a:extLst>
              <a:ext uri="{FF2B5EF4-FFF2-40B4-BE49-F238E27FC236}">
                <a16:creationId xmlns:a16="http://schemas.microsoft.com/office/drawing/2014/main" id="{E6FEAB19-4D59-5597-9031-71FA52B4103F}"/>
              </a:ext>
            </a:extLst>
          </p:cNvPr>
          <p:cNvSpPr/>
          <p:nvPr/>
        </p:nvSpPr>
        <p:spPr>
          <a:xfrm>
            <a:off x="1250442" y="22707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Xây dựng thành công hệ thống FLUX hoàn chỉnh với Client GUI, Server GUI và giao thức tự thiết kế trên nền TCP/TLS.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44717F3D-B8D7-2ECE-6C5A-A8D740B58E79}"/>
              </a:ext>
            </a:extLst>
          </p:cNvPr>
          <p:cNvSpPr/>
          <p:nvPr/>
        </p:nvSpPr>
        <p:spPr>
          <a:xfrm>
            <a:off x="610362" y="3276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1" descr="/home/claude/pptxwork2/icons/check_w.png">
            <a:extLst>
              <a:ext uri="{FF2B5EF4-FFF2-40B4-BE49-F238E27FC236}">
                <a16:creationId xmlns:a16="http://schemas.microsoft.com/office/drawing/2014/main" id="{89248E2E-D627-31DD-F72B-76B268DCB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338322"/>
            <a:ext cx="333756" cy="333756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B960612B-A2D8-B174-348F-C74330F05F18}"/>
              </a:ext>
            </a:extLst>
          </p:cNvPr>
          <p:cNvSpPr/>
          <p:nvPr/>
        </p:nvSpPr>
        <p:spPr>
          <a:xfrm>
            <a:off x="1250442" y="32308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Nắm vững kiến thức Socket, Multithreading (threading &amp; QThread) và thiết kế giao thức ứng dụng (framing, byte-range).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64CE06D5-2C73-EA57-7D02-AA09D6D0A408}"/>
              </a:ext>
            </a:extLst>
          </p:cNvPr>
          <p:cNvSpPr/>
          <p:nvPr/>
        </p:nvSpPr>
        <p:spPr>
          <a:xfrm>
            <a:off x="610362" y="42367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2" descr="/home/claude/pptxwork2/icons/check_w.png">
            <a:extLst>
              <a:ext uri="{FF2B5EF4-FFF2-40B4-BE49-F238E27FC236}">
                <a16:creationId xmlns:a16="http://schemas.microsoft.com/office/drawing/2014/main" id="{CE13ECB2-5F09-2DCA-DE04-C97167CC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4298442"/>
            <a:ext cx="333756" cy="333756"/>
          </a:xfrm>
          <a:prstGeom prst="rect">
            <a:avLst/>
          </a:prstGeom>
        </p:spPr>
      </p:pic>
      <p:sp>
        <p:nvSpPr>
          <p:cNvPr id="34" name="Text 7">
            <a:extLst>
              <a:ext uri="{FF2B5EF4-FFF2-40B4-BE49-F238E27FC236}">
                <a16:creationId xmlns:a16="http://schemas.microsoft.com/office/drawing/2014/main" id="{1675D9F3-3ABB-ED0E-F906-2BA9308287E5}"/>
              </a:ext>
            </a:extLst>
          </p:cNvPr>
          <p:cNvSpPr/>
          <p:nvPr/>
        </p:nvSpPr>
        <p:spPr>
          <a:xfrm>
            <a:off x="1250442" y="41910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Hiện thực thành công cơ chế tải đa luồng theo vùng byte giúp tăng tốc độ tải file lớn.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FD3237C0-16F4-8527-AA76-B227BA559B53}"/>
              </a:ext>
            </a:extLst>
          </p:cNvPr>
          <p:cNvSpPr/>
          <p:nvPr/>
        </p:nvSpPr>
        <p:spPr>
          <a:xfrm>
            <a:off x="610362" y="51968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sz="160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Image 3" descr="/home/claude/pptxwork2/icons/check_w.png">
            <a:extLst>
              <a:ext uri="{FF2B5EF4-FFF2-40B4-BE49-F238E27FC236}">
                <a16:creationId xmlns:a16="http://schemas.microsoft.com/office/drawing/2014/main" id="{79805B3E-7B15-E0EE-3225-EFF23CF9F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258562"/>
            <a:ext cx="333756" cy="333756"/>
          </a:xfrm>
          <a:prstGeom prst="rect">
            <a:avLst/>
          </a:prstGeom>
        </p:spPr>
      </p:pic>
      <p:sp>
        <p:nvSpPr>
          <p:cNvPr id="40" name="Text 9">
            <a:extLst>
              <a:ext uri="{FF2B5EF4-FFF2-40B4-BE49-F238E27FC236}">
                <a16:creationId xmlns:a16="http://schemas.microsoft.com/office/drawing/2014/main" id="{2601258D-54DF-EA7A-FE30-82BFDB3E0BCE}"/>
              </a:ext>
            </a:extLst>
          </p:cNvPr>
          <p:cNvSpPr/>
          <p:nvPr/>
        </p:nvSpPr>
        <p:spPr>
          <a:xfrm>
            <a:off x="1250442" y="51511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Áp dụng được kiến trúc Client – Server thực tế, có kiểm thử đầy đủ (edge test, stress test, 60 test case) và có thể mở rộng thêm.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7F1AF3-3448-EC33-CA9B-614158961C3D}"/>
              </a:ext>
            </a:extLst>
          </p:cNvPr>
          <p:cNvSpPr txBox="1"/>
          <p:nvPr/>
        </p:nvSpPr>
        <p:spPr>
          <a:xfrm>
            <a:off x="502920" y="1035826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9A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WRAP-UP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5" y="2675889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prstTxWarp prst="textArchUp">
              <a:avLst/>
            </a:prstTxWarp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D6E7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XIN CẢM ƠN</a:t>
            </a:r>
            <a:endParaRPr lang="en-US" sz="6000" dirty="0">
              <a:solidFill>
                <a:srgbClr val="0D6E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5" y="3633471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9A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THẦY VÀ CÁC BẠN ĐÃ LẮNG NGHE!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5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FLUX — Multi File Downloader  ·  Group 5  ·  Lập trình mạng  ·  GVHD: Mai Ngọc Châu</a:t>
            </a:r>
            <a:endParaRPr lang="en-US" sz="16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3548</Words>
  <Application>Microsoft Office PowerPoint</Application>
  <PresentationFormat>Widescreen</PresentationFormat>
  <Paragraphs>471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 - Multi File Downloader</dc:title>
  <dc:subject>PptxGenJS Presentation</dc:subject>
  <dc:creator>Nhom 5 - Lop Lap trinh mang</dc:creator>
  <cp:lastModifiedBy>THU HƯƠNG</cp:lastModifiedBy>
  <cp:revision>8</cp:revision>
  <dcterms:created xsi:type="dcterms:W3CDTF">2026-07-03T21:05:58Z</dcterms:created>
  <dcterms:modified xsi:type="dcterms:W3CDTF">2026-07-05T02:45:19Z</dcterms:modified>
</cp:coreProperties>
</file>